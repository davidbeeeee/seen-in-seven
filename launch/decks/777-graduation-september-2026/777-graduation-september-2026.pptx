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d9d9eedbaf4108" /><Relationship Type="http://schemas.openxmlformats.org/officeDocument/2006/relationships/extended-properties" Target="/docProps/app.xml" Id="R403c8c46f0fa4c49" /><Relationship Type="http://schemas.openxmlformats.org/officeDocument/2006/relationships/officeDocument" Target="/ppt/presentation.xml" Id="R2c5aadb0d18748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13dd1b9a074c32"/>
  </p:sldMasterIdLst>
  <p:notesMasterIdLst>
    <p:notesMasterId xmlns:r="http://schemas.openxmlformats.org/officeDocument/2006/relationships" r:id="Rc0ade9031a744a6f"/>
  </p:notesMasterIdLst>
  <p:sldIdLst>
    <p:sldId xmlns:r="http://schemas.openxmlformats.org/officeDocument/2006/relationships" id="256" r:id="R745dc3b8b1a24c6c"/>
    <p:sldId xmlns:r="http://schemas.openxmlformats.org/officeDocument/2006/relationships" id="257" r:id="Rd3615e702a1d474d"/>
    <p:sldId xmlns:r="http://schemas.openxmlformats.org/officeDocument/2006/relationships" id="258" r:id="R424a321017aa4c9e"/>
    <p:sldId xmlns:r="http://schemas.openxmlformats.org/officeDocument/2006/relationships" id="259" r:id="Rc6098cd80f304245"/>
    <p:sldId xmlns:r="http://schemas.openxmlformats.org/officeDocument/2006/relationships" id="260" r:id="R716278b0399e44a7"/>
    <p:sldId xmlns:r="http://schemas.openxmlformats.org/officeDocument/2006/relationships" id="261" r:id="R6c6511523d99430d"/>
    <p:sldId xmlns:r="http://schemas.openxmlformats.org/officeDocument/2006/relationships" id="262" r:id="R001cb5a5fe2a4b72"/>
    <p:sldId xmlns:r="http://schemas.openxmlformats.org/officeDocument/2006/relationships" id="263" r:id="R077118096dcb4da3"/>
    <p:sldId xmlns:r="http://schemas.openxmlformats.org/officeDocument/2006/relationships" id="264" r:id="Rc97317e340664957"/>
    <p:sldId xmlns:r="http://schemas.openxmlformats.org/officeDocument/2006/relationships" id="265" r:id="R8255956bd09347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19e476b4164e7d" /><Relationship Type="http://schemas.openxmlformats.org/officeDocument/2006/relationships/slideMaster" Target="/ppt/slideMasters/slideMaster1.xml" Id="R2813dd1b9a074c32" /><Relationship Type="http://schemas.openxmlformats.org/officeDocument/2006/relationships/notesMaster" Target="/ppt/notesMasters/notesMaster1.xml" Id="Rc0ade9031a744a6f" /><Relationship Type="http://schemas.openxmlformats.org/officeDocument/2006/relationships/presProps" Target="/ppt/presProps.xml" Id="R673763f2815447c0" /><Relationship Type="http://schemas.openxmlformats.org/officeDocument/2006/relationships/tableStyles" Target="/ppt/tableStyles.xml" Id="Re11466f2a841464b" /><Relationship Type="http://schemas.openxmlformats.org/officeDocument/2006/relationships/slide" Target="/ppt/slides/slide1.xml" Id="R745dc3b8b1a24c6c" /><Relationship Type="http://schemas.openxmlformats.org/officeDocument/2006/relationships/slide" Target="/ppt/slides/slide2.xml" Id="Rd3615e702a1d474d" /><Relationship Type="http://schemas.openxmlformats.org/officeDocument/2006/relationships/slide" Target="/ppt/slides/slide3.xml" Id="R424a321017aa4c9e" /><Relationship Type="http://schemas.openxmlformats.org/officeDocument/2006/relationships/slide" Target="/ppt/slides/slide4.xml" Id="Rc6098cd80f304245" /><Relationship Type="http://schemas.openxmlformats.org/officeDocument/2006/relationships/slide" Target="/ppt/slides/slide5.xml" Id="R716278b0399e44a7" /><Relationship Type="http://schemas.openxmlformats.org/officeDocument/2006/relationships/slide" Target="/ppt/slides/slide6.xml" Id="R6c6511523d99430d" /><Relationship Type="http://schemas.openxmlformats.org/officeDocument/2006/relationships/slide" Target="/ppt/slides/slide7.xml" Id="R001cb5a5fe2a4b72" /><Relationship Type="http://schemas.openxmlformats.org/officeDocument/2006/relationships/slide" Target="/ppt/slides/slide8.xml" Id="R077118096dcb4da3" /><Relationship Type="http://schemas.openxmlformats.org/officeDocument/2006/relationships/slide" Target="/ppt/slides/slide9.xml" Id="Rc97317e340664957" /><Relationship Type="http://schemas.openxmlformats.org/officeDocument/2006/relationships/slide" Target="/ppt/slides/slide10.xml" Id="R8255956bd09347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84ee5eb2ec43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231ee0fddb4096" /><Relationship Type="http://schemas.openxmlformats.org/officeDocument/2006/relationships/notesMaster" Target="/ppt/notesMasters/notesMaster1.xml" Id="R4a10cdc55b7741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fb8927535741e8" /><Relationship Type="http://schemas.openxmlformats.org/officeDocument/2006/relationships/notesMaster" Target="/ppt/notesMasters/notesMaster1.xml" Id="R676f7450739540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12baa797844c15" /><Relationship Type="http://schemas.openxmlformats.org/officeDocument/2006/relationships/notesMaster" Target="/ppt/notesMasters/notesMaster1.xml" Id="Rffaab2110da549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3802f8419e4d0a" /><Relationship Type="http://schemas.openxmlformats.org/officeDocument/2006/relationships/notesMaster" Target="/ppt/notesMasters/notesMaster1.xml" Id="Rb65078e1f7fb4b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34e227dbe84cea" /><Relationship Type="http://schemas.openxmlformats.org/officeDocument/2006/relationships/notesMaster" Target="/ppt/notesMasters/notesMaster1.xml" Id="Rfe18ae254fe641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334e3d7d734935" /><Relationship Type="http://schemas.openxmlformats.org/officeDocument/2006/relationships/notesMaster" Target="/ppt/notesMasters/notesMaster1.xml" Id="R424492edd16140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046e61c3f84f19" /><Relationship Type="http://schemas.openxmlformats.org/officeDocument/2006/relationships/notesMaster" Target="/ppt/notesMasters/notesMaster1.xml" Id="Ra3e6f40b107549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7b327c5fb644dc" /><Relationship Type="http://schemas.openxmlformats.org/officeDocument/2006/relationships/notesMaster" Target="/ppt/notesMasters/notesMaster1.xml" Id="Rbd09c600e57546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f8196149144e46" /><Relationship Type="http://schemas.openxmlformats.org/officeDocument/2006/relationships/notesMaster" Target="/ppt/notesMasters/notesMaster1.xml" Id="R16734b1ecdd945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adf0b8bb16432b" /><Relationship Type="http://schemas.openxmlformats.org/officeDocument/2006/relationships/notesMaster" Target="/ppt/notesMasters/notesMaster1.xml" Id="Rd4dc285447b747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483fecc7741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5a061d11004632" /><Relationship Type="http://schemas.openxmlformats.org/officeDocument/2006/relationships/slideLayout" Target="/ppt/slideLayouts/slideLayout1.xml" Id="R81060758336648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060758336648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e528a55864aca" /><Relationship Type="http://schemas.openxmlformats.org/officeDocument/2006/relationships/notesSlide" Target="/ppt/notesSlides/notesSlide1.xml" Id="Re7bf7339151e4c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92c9bac834547" /><Relationship Type="http://schemas.openxmlformats.org/officeDocument/2006/relationships/notesSlide" Target="/ppt/notesSlides/notesSlide2.xml" Id="R4055a0cfc1684f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475f29f1b4f31" /><Relationship Type="http://schemas.openxmlformats.org/officeDocument/2006/relationships/notesSlide" Target="/ppt/notesSlides/notesSlide3.xml" Id="R06dee1ed513849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4c822f4694acc" /><Relationship Type="http://schemas.openxmlformats.org/officeDocument/2006/relationships/notesSlide" Target="/ppt/notesSlides/notesSlide4.xml" Id="Rb3255cc16a7b4d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f69c36cb24443" /><Relationship Type="http://schemas.openxmlformats.org/officeDocument/2006/relationships/image" Target="/ppt/media/image.png" Id="Rf0a8ab5607134989" /><Relationship Type="http://schemas.openxmlformats.org/officeDocument/2006/relationships/notesSlide" Target="/ppt/notesSlides/notesSlide5.xml" Id="Rcf904f48605b4f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87db946384a59" /><Relationship Type="http://schemas.openxmlformats.org/officeDocument/2006/relationships/notesSlide" Target="/ppt/notesSlides/notesSlide6.xml" Id="R7955c9fcaa724e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057afd6fc4659" /><Relationship Type="http://schemas.openxmlformats.org/officeDocument/2006/relationships/notesSlide" Target="/ppt/notesSlides/notesSlide7.xml" Id="R8b5a3000e79f40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1ffe8a1af49e2" /><Relationship Type="http://schemas.openxmlformats.org/officeDocument/2006/relationships/notesSlide" Target="/ppt/notesSlides/notesSlide8.xml" Id="Re42e46a7c5424c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1ea5ab2064bc6" /><Relationship Type="http://schemas.openxmlformats.org/officeDocument/2006/relationships/notesSlide" Target="/ppt/notesSlides/notesSlide9.xml" Id="Rb9edfe3e4a9a47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1f19c11af4c41" /><Relationship Type="http://schemas.openxmlformats.org/officeDocument/2006/relationships/notesSlide" Target="/ppt/notesSlides/notesSlide10.xml" Id="R44636d3664a547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8CFFC-CC55-4439-BCCB-5141FD06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FB0E8-DC26-442F-B9E9-6803E182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777 GRADUATION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46394-63FA-4F0F-8181-58756423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2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1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4FA6F-D405-4438-9EFD-D61C8B18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0001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1212"/>
                </a:solidFill>
              </a:defRPr>
            </a:pPr>
            <a:r>
              <a:rPr sz="3900" b="1">
                <a:solidFill>
                  <a:srgbClr val="121212"/>
                </a:solidFill>
              </a:rPr>
              <a:t>You brought the story home.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20C8E-E9A0-45B1-BD7F-0BA27DA6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D8921-1E77-4056-8181-84F88BC7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9048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86662"/>
                </a:solidFill>
              </a:defRPr>
            </a:pPr>
            <a:r>
              <a:rPr sz="1800">
                <a:solidFill>
                  <a:srgbClr val="686662"/>
                </a:solidFill>
              </a:rPr>
              <a:t>Graduation | September 15, 2026 | 11:00 AM Mountain 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6E3C5-2757-4D64-8211-865F7A9D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78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5B4F"/>
                </a:solidFill>
              </a:defRPr>
            </a:pPr>
            <a:r>
              <a:rPr sz="2175" b="1">
                <a:solidFill>
                  <a:srgbClr val="F45B4F"/>
                </a:solidFill>
              </a:rPr>
              <a:t>Now the completed arc gets to change what happens next.</a:t>
            </a:r>
          </a:p>
        </p:txBody>
      </p:sp>
    </p:spTree>
    <p:extLst>
      <p:ext uri="{BB962C8B-B14F-4D97-AF65-F5344CB8AC3E}">
        <p14:creationId xmlns:p14="http://schemas.microsoft.com/office/powerpoint/2010/main" val="9169833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70ADC-25D5-4843-A01A-91DA5858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AD7FB-381F-4DB5-A0D6-904CE0C6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CELEBRATE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8D83B-5AA8-436C-8B3F-D991D72C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2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2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59F74-F21B-449B-B84D-C7FA31A8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1212"/>
                </a:solidFill>
              </a:defRPr>
            </a:pPr>
            <a:r>
              <a:rPr sz="3600" b="1">
                <a:solidFill>
                  <a:srgbClr val="121212"/>
                </a:solidFill>
              </a:rPr>
              <a:t>Seven public acts of becoming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22DDC-06FD-412C-9472-9820CA6D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5B4F"/>
                </a:solidFill>
              </a:defRPr>
            </a:pPr>
            <a:r>
              <a:rPr sz="1350" b="1">
                <a:solidFill>
                  <a:srgbClr val="F45B4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F45D8-5D8E-4675-99C9-C904E93E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212"/>
                </a:solidFill>
              </a:defRPr>
            </a:pPr>
            <a:r>
              <a:rPr sz="2175" b="1">
                <a:solidFill>
                  <a:srgbClr val="121212"/>
                </a:solidFill>
              </a:rPr>
              <a:t>You began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BC0FC-8DC3-4F29-94FA-4A488012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6662"/>
                </a:solidFill>
              </a:defRPr>
            </a:pPr>
            <a:r>
              <a:rPr sz="1350">
                <a:solidFill>
                  <a:srgbClr val="686662"/>
                </a:solidFill>
              </a:rPr>
              <a:t>The first chapter broke the private stalemate.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DBB97-A7FF-4B29-98FE-8F4B3807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479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BCE"/>
                </a:solidFill>
              </a:defRPr>
            </a:pPr>
            <a:r>
              <a:rPr sz="1350" b="1">
                <a:solidFill>
                  <a:srgbClr val="246BCE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44595-43FA-4C25-811A-6A040DFB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813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212"/>
                </a:solidFill>
              </a:defRPr>
            </a:pPr>
            <a:r>
              <a:rPr sz="2175" b="1">
                <a:solidFill>
                  <a:srgbClr val="121212"/>
                </a:solidFill>
              </a:rPr>
              <a:t>You stayed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633B6-FF6B-4305-A371-0786C9C7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004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6662"/>
                </a:solidFill>
              </a:defRPr>
            </a:pPr>
            <a:r>
              <a:rPr sz="1350">
                <a:solidFill>
                  <a:srgbClr val="686662"/>
                </a:solidFill>
              </a:rPr>
              <a:t>The middle carried doubt, resistance, and the fall.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925C2-2186-4D22-8AFD-3C5F88B5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479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847A"/>
                </a:solidFill>
              </a:defRPr>
            </a:pPr>
            <a:r>
              <a:rPr sz="1350" b="1">
                <a:solidFill>
                  <a:srgbClr val="15847A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7C89E-6ACB-4A29-8D23-0C7DB4B0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212"/>
                </a:solidFill>
              </a:defRPr>
            </a:pPr>
            <a:r>
              <a:rPr sz="2175" b="1">
                <a:solidFill>
                  <a:srgbClr val="121212"/>
                </a:solidFill>
              </a:rPr>
              <a:t>You returned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2A914-377B-4D5E-9C33-9902940D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004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6662"/>
                </a:solidFill>
              </a:defRPr>
            </a:pPr>
            <a:r>
              <a:rPr sz="1350">
                <a:solidFill>
                  <a:srgbClr val="686662"/>
                </a:solidFill>
              </a:rPr>
              <a:t>The final chapter named what is true now without pretending the work is finished.</a:t>
            </a:r>
          </a:p>
        </p:txBody>
      </p:sp>
    </p:spTree>
    <p:extLst>
      <p:ext uri="{BB962C8B-B14F-4D97-AF65-F5344CB8AC3E}">
        <p14:creationId xmlns:p14="http://schemas.microsoft.com/office/powerpoint/2010/main" val="3574311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FC404B-4B61-4735-9FBE-64E7CB7F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9C1E4-0ABD-43DA-B21F-CBF8C839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THE COMPLETED ARC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63866-433B-41FC-830A-5DACAFAB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2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3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4B068-4991-4392-98F9-A05149F8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1212"/>
                </a:solidFill>
              </a:defRPr>
            </a:pPr>
            <a:r>
              <a:rPr sz="3300" b="1">
                <a:solidFill>
                  <a:srgbClr val="121212"/>
                </a:solidFill>
              </a:rPr>
              <a:t>One journey. Seven distinct jobs.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9C89B-6391-4F02-ACE7-EF1A6431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1811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A8961-AAAF-441E-B31F-81254D09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990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2"/>
                </a:solidFill>
              </a:defRPr>
            </a:pPr>
            <a:r>
              <a:rPr sz="1350" b="1">
                <a:solidFill>
                  <a:srgbClr val="121212"/>
                </a:solidFill>
              </a:rPr>
              <a:t>Commit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D7BF3-B6F9-4185-9EF0-F921DA2E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90750"/>
            <a:ext cx="11811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E3C1C-1680-40CA-92AC-38E8189E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71750"/>
            <a:ext cx="990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2"/>
                </a:solidFill>
              </a:defRPr>
            </a:pPr>
            <a:r>
              <a:rPr sz="1350" b="1">
                <a:solidFill>
                  <a:srgbClr val="121212"/>
                </a:solidFill>
              </a:rPr>
              <a:t>Belong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4BD02-17C2-4060-9B46-2864AE0F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90750"/>
            <a:ext cx="11811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132F3-EE90-4976-B3EB-EEBB07B7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71750"/>
            <a:ext cx="990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2"/>
                </a:solidFill>
              </a:defRPr>
            </a:pPr>
            <a:r>
              <a:rPr sz="1350" b="1">
                <a:solidFill>
                  <a:srgbClr val="121212"/>
                </a:solidFill>
              </a:rPr>
              <a:t>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A30AD1-1E88-4F9A-A3EB-0D29B95A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11811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361DD-8BE1-48DB-A191-C60B5D38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990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2"/>
                </a:solidFill>
              </a:defRPr>
            </a:pPr>
            <a:r>
              <a:rPr sz="1350" b="1">
                <a:solidFill>
                  <a:srgbClr val="121212"/>
                </a:solidFill>
              </a:rPr>
              <a:t>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1ED6F-8132-4D95-B1FF-2A6117B3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90750"/>
            <a:ext cx="11811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45B4F"/>
          </a:solidFill>
          <a:ln xmlns:a="http://schemas.openxmlformats.org/drawingml/2006/main" w="9525">
            <a:solidFill>
              <a:srgbClr val="D9D5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05094D-FF3D-464B-8790-4F272E26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990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51309-1181-4E7C-B23B-85108B5F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11811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87E85E-CC2E-4BDB-BA5A-673A9DB5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990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2"/>
                </a:solidFill>
              </a:defRPr>
            </a:pPr>
            <a:r>
              <a:rPr sz="1350" b="1">
                <a:solidFill>
                  <a:srgbClr val="121212"/>
                </a:solidFill>
              </a:rPr>
              <a:t>Discover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9A986C-E779-4522-B771-024DC122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190750"/>
            <a:ext cx="11811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5847A"/>
          </a:solidFill>
          <a:ln xmlns:a="http://schemas.openxmlformats.org/drawingml/2006/main" w="9525">
            <a:solidFill>
              <a:srgbClr val="D9D5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3437C4-13E2-4BDB-97EF-6D98E0C7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71750"/>
            <a:ext cx="990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Return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1CED7B-D1DD-44E1-843A-4EDCD160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686662"/>
                </a:solidFill>
              </a:defRPr>
            </a:pPr>
            <a:r>
              <a:rPr sz="2025">
                <a:solidFill>
                  <a:srgbClr val="686662"/>
                </a:solidFill>
              </a:rPr>
              <a:t>The final video did not erase the unresolved flaw. It made the speaker trustworthy enough to keep following.</a:t>
            </a:r>
          </a:p>
        </p:txBody>
      </p:sp>
    </p:spTree>
    <p:extLst>
      <p:ext uri="{BB962C8B-B14F-4D97-AF65-F5344CB8AC3E}">
        <p14:creationId xmlns:p14="http://schemas.microsoft.com/office/powerpoint/2010/main" val="18390209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4211D9-F67E-48FB-9B7B-4AA29006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496F8-70DD-480C-903B-139681CD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THE NEXT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4FE6F-D44E-4D16-A732-F339698C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2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4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9BCAE-70AC-4FC8-869E-F1BBD8C3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1212"/>
                </a:solidFill>
              </a:defRPr>
            </a:pPr>
            <a:r>
              <a:rPr sz="3600" b="1">
                <a:solidFill>
                  <a:srgbClr val="121212"/>
                </a:solidFill>
              </a:rPr>
              <a:t>Visibility reveals the next bottleneck.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694D1-4286-462F-A598-C2DF8577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BCE"/>
                </a:solidFill>
              </a:defRPr>
            </a:pPr>
            <a:r>
              <a:rPr sz="1350" b="1">
                <a:solidFill>
                  <a:srgbClr val="246BCE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17336-07A7-4E66-9A4E-B2949B52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212"/>
                </a:solidFill>
              </a:defRPr>
            </a:pPr>
            <a:r>
              <a:rPr sz="2175" b="1">
                <a:solidFill>
                  <a:srgbClr val="121212"/>
                </a:solidFill>
              </a:rPr>
              <a:t>What matters?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F2027-FFD8-477D-9F22-033A74E4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4330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6662"/>
                </a:solidFill>
              </a:defRPr>
            </a:pPr>
            <a:r>
              <a:rPr sz="1350">
                <a:solidFill>
                  <a:srgbClr val="686662"/>
                </a:solidFill>
              </a:rPr>
              <a:t>Choose the real decision instead of collecting more options.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3A270-5456-47C6-9284-390E221D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5B4F"/>
                </a:solidFill>
              </a:defRPr>
            </a:pPr>
            <a:r>
              <a:rPr sz="1350" b="1">
                <a:solidFill>
                  <a:srgbClr val="F45B4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8F90C-B739-4952-B033-141243E2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212"/>
                </a:solidFill>
              </a:defRPr>
            </a:pPr>
            <a:r>
              <a:rPr sz="2175" b="1">
                <a:solidFill>
                  <a:srgbClr val="121212"/>
                </a:solidFill>
              </a:rPr>
              <a:t>How do I say it?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F9039E-012B-472E-A6C8-13FF5169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6662"/>
                </a:solidFill>
              </a:defRPr>
            </a:pPr>
            <a:r>
              <a:rPr sz="1350">
                <a:solidFill>
                  <a:srgbClr val="686662"/>
                </a:solidFill>
              </a:rPr>
              <a:t>Shape a message without sanding away the point of 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FCAE0-6FF2-4D1D-AE69-45EC9B5D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847A"/>
                </a:solidFill>
              </a:defRPr>
            </a:pPr>
            <a:r>
              <a:rPr sz="1350" b="1">
                <a:solidFill>
                  <a:srgbClr val="15847A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833E5-94D7-47DF-8352-210F499E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241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212"/>
                </a:solidFill>
              </a:defRPr>
            </a:pPr>
            <a:r>
              <a:rPr sz="2175" b="1">
                <a:solidFill>
                  <a:srgbClr val="121212"/>
                </a:solidFill>
              </a:rPr>
              <a:t>How does it finish?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CF4B8-CD5C-4B42-99B1-D81F6EEF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4330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6662"/>
                </a:solidFill>
              </a:defRPr>
            </a:pPr>
            <a:r>
              <a:rPr sz="1350">
                <a:solidFill>
                  <a:srgbClr val="686662"/>
                </a:solidFill>
              </a:rPr>
              <a:t>Stay with implementation until the work exists outside your head.</a:t>
            </a:r>
          </a:p>
        </p:txBody>
      </p:sp>
    </p:spTree>
    <p:extLst>
      <p:ext uri="{BB962C8B-B14F-4D97-AF65-F5344CB8AC3E}">
        <p14:creationId xmlns:p14="http://schemas.microsoft.com/office/powerpoint/2010/main" val="5697420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DB888-D8A6-4EB8-9162-867C0DC2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03D56-9DC9-4F96-B4F5-4AFA7A22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EEE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628FE-BB25-4E29-A8D2-376EC7E3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2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5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FE7E6-812D-460B-A0D9-504B2AD1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542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1212"/>
                </a:solidFill>
              </a:defRPr>
            </a:pPr>
            <a:r>
              <a:rPr sz="3150" b="1">
                <a:solidFill>
                  <a:srgbClr val="121212"/>
                </a:solidFill>
              </a:rPr>
              <a:t>One Studio for the work after clarity.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8ab56071349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143000"/>
            <a:ext cx="4381500" cy="4381500"/>
          </a:xfrm>
          <a:prstGeom xmlns:a="http://schemas.openxmlformats.org/drawingml/2006/main" prst="roundRect">
            <a:avLst>
              <a:gd name="adj" fmla="val 130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5BABB-BD16-4DD0-9893-8B952F1E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86662"/>
                </a:solidFill>
              </a:defRPr>
            </a:pPr>
            <a:r>
              <a:rPr sz="1800">
                <a:solidFill>
                  <a:srgbClr val="686662"/>
                </a:solidFill>
              </a:rPr>
              <a:t>EEE keeps the message, decision, examples, advisors, and direct support in the same operating space.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E8A53-50F5-4A8D-8146-77B881EA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5B4F"/>
                </a:solidFill>
              </a:defRPr>
            </a:pPr>
            <a:r>
              <a:rPr sz="2100" b="1">
                <a:solidFill>
                  <a:srgbClr val="F45B4F"/>
                </a:solidFill>
              </a:rPr>
              <a:t>Not another login. Not another library to finish.</a:t>
            </a:r>
          </a:p>
        </p:txBody>
      </p:sp>
    </p:spTree>
    <p:extLst>
      <p:ext uri="{BB962C8B-B14F-4D97-AF65-F5344CB8AC3E}">
        <p14:creationId xmlns:p14="http://schemas.microsoft.com/office/powerpoint/2010/main" val="3773421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65D30F-8EED-402B-8119-7A2EBEBC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832B1-FD1C-4C7B-9FCA-CD44A858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THE FIVE PARTS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A94FE-6976-4652-9788-F89DE422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2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6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73BEB-0CC7-4723-9DF4-F4ECDDFF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1212"/>
                </a:solidFill>
              </a:defRPr>
            </a:pPr>
            <a:r>
              <a:rPr sz="3150" b="1">
                <a:solidFill>
                  <a:srgbClr val="121212"/>
                </a:solidFill>
              </a:rPr>
              <a:t>Five different jobs. One shared identity.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B4879-B467-4A1E-80E6-1BA51DF1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BB648-5156-423C-BA93-508B03BC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</a:defRPr>
            </a:pPr>
            <a:r>
              <a:rPr sz="1725" b="1">
                <a:solidFill>
                  <a:srgbClr val="121212"/>
                </a:solidFill>
              </a:rPr>
              <a:t>StorySculpt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87299-DF6C-41E4-983E-3D1D5F86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288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86662"/>
                </a:solidFill>
              </a:defRPr>
            </a:pPr>
            <a:r>
              <a:rPr sz="1575">
                <a:solidFill>
                  <a:srgbClr val="686662"/>
                </a:solidFill>
              </a:rPr>
              <a:t>Shape the message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FF0F7-385B-4972-A340-684973DB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6A9D5F-A3C0-4698-8ED4-DDE74DEF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</a:defRPr>
            </a:pPr>
            <a:r>
              <a:rPr sz="1725" b="1">
                <a:solidFill>
                  <a:srgbClr val="121212"/>
                </a:solidFill>
              </a:rPr>
              <a:t>Navigator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E9157-D5ED-440C-853D-7E9E9E31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479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86662"/>
                </a:solidFill>
              </a:defRPr>
            </a:pPr>
            <a:r>
              <a:rPr sz="1575">
                <a:solidFill>
                  <a:srgbClr val="686662"/>
                </a:solidFill>
              </a:rPr>
              <a:t>Choose the next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3F20E-B6D7-478C-9724-E3A1F759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CFE51-F714-496C-B7D3-A1A0FE47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</a:defRPr>
            </a:pPr>
            <a:r>
              <a:rPr sz="1725" b="1">
                <a:solidFill>
                  <a:srgbClr val="121212"/>
                </a:solidFill>
              </a:rPr>
              <a:t>Solution Vault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962EBA-852F-4874-99AF-6982A21F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671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86662"/>
                </a:solidFill>
              </a:defRPr>
            </a:pPr>
            <a:r>
              <a:rPr sz="1575">
                <a:solidFill>
                  <a:srgbClr val="686662"/>
                </a:solidFill>
              </a:rPr>
              <a:t>Learn from working examples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2209B-138D-406A-B957-E72B7599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89C492-FB57-496A-9EF8-82F63289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</a:defRPr>
            </a:pPr>
            <a:r>
              <a:rPr sz="1725" b="1">
                <a:solidFill>
                  <a:srgbClr val="121212"/>
                </a:solidFill>
              </a:rPr>
              <a:t>AI Boardroom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F0F97-8585-4BE9-80EA-048ABC40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862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86662"/>
                </a:solidFill>
              </a:defRPr>
            </a:pPr>
            <a:r>
              <a:rPr sz="1575">
                <a:solidFill>
                  <a:srgbClr val="686662"/>
                </a:solidFill>
              </a:rPr>
              <a:t>Pressure-test the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67F310-9D10-40CF-A10B-8FF8B8BB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863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4DA4E-CC3F-4751-848B-52062529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</a:defRPr>
            </a:pPr>
            <a:r>
              <a:rPr sz="1725" b="1">
                <a:solidFill>
                  <a:srgbClr val="121212"/>
                </a:solidFill>
              </a:rPr>
              <a:t>Certainty Sessions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94D415-135B-4F88-843C-561832E1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054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86662"/>
                </a:solidFill>
              </a:defRPr>
            </a:pPr>
            <a:r>
              <a:rPr sz="1575">
                <a:solidFill>
                  <a:srgbClr val="686662"/>
                </a:solidFill>
              </a:rPr>
              <a:t>Work directly with David</a:t>
            </a:r>
          </a:p>
        </p:txBody>
      </p:sp>
    </p:spTree>
    <p:extLst>
      <p:ext uri="{BB962C8B-B14F-4D97-AF65-F5344CB8AC3E}">
        <p14:creationId xmlns:p14="http://schemas.microsoft.com/office/powerpoint/2010/main" val="16168910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ECA9A-2247-4D0D-93FC-53811AFD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89997-B09D-4B5E-BE8F-15098C24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LIVE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DE7E7-D1E1-4561-ABB7-B3B3FC1D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2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7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9FEAA-3D58-4486-AF02-CDB67610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1212"/>
                </a:solidFill>
              </a:defRPr>
            </a:pPr>
            <a:r>
              <a:rPr sz="3450" b="1">
                <a:solidFill>
                  <a:srgbClr val="121212"/>
                </a:solidFill>
              </a:rPr>
              <a:t>Watch one stuck project move.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57BD5-EADD-4D54-9B50-3568AB62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BCE"/>
                </a:solidFill>
              </a:defRPr>
            </a:pPr>
            <a:r>
              <a:rPr sz="1350" b="1">
                <a:solidFill>
                  <a:srgbClr val="246BCE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CA34E-649C-4BDF-86A8-5D46C4C5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212"/>
                </a:solidFill>
              </a:defRPr>
            </a:pPr>
            <a:r>
              <a:rPr sz="2175" b="1">
                <a:solidFill>
                  <a:srgbClr val="121212"/>
                </a:solidFill>
              </a:rPr>
              <a:t>Name the constraint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F042A-BBD4-4A4D-A01F-DDB624B0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6662"/>
                </a:solidFill>
              </a:defRPr>
            </a:pPr>
            <a:r>
              <a:rPr sz="1350">
                <a:solidFill>
                  <a:srgbClr val="686662"/>
                </a:solidFill>
              </a:rPr>
              <a:t>Navigator reduces the field to one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46AD2-AFFD-42EF-8E42-D594C2EB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717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5B4F"/>
                </a:solidFill>
              </a:defRPr>
            </a:pPr>
            <a:r>
              <a:rPr sz="1350" b="1">
                <a:solidFill>
                  <a:srgbClr val="F45B4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7BF8A-A296-45AD-9890-471D9DF4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051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212"/>
                </a:solidFill>
              </a:defRPr>
            </a:pPr>
            <a:r>
              <a:rPr sz="2175" b="1">
                <a:solidFill>
                  <a:srgbClr val="121212"/>
                </a:solidFill>
              </a:rPr>
              <a:t>Shape the 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9FF78-39A2-413B-9602-BDF1133A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242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6662"/>
                </a:solidFill>
              </a:defRPr>
            </a:pPr>
            <a:r>
              <a:rPr sz="1350">
                <a:solidFill>
                  <a:srgbClr val="686662"/>
                </a:solidFill>
              </a:rPr>
              <a:t>StorySculpt interviews for the raw material before it writes.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733E4-4A6F-409B-8600-5B85F261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717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847A"/>
                </a:solidFill>
              </a:defRPr>
            </a:pPr>
            <a:r>
              <a:rPr sz="1350" b="1">
                <a:solidFill>
                  <a:srgbClr val="15847A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ACB87-4571-4998-A268-5F037285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051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212"/>
                </a:solidFill>
              </a:defRPr>
            </a:pPr>
            <a:r>
              <a:rPr sz="2175" b="1">
                <a:solidFill>
                  <a:srgbClr val="121212"/>
                </a:solidFill>
              </a:rPr>
              <a:t>Finish the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2BA61-B139-4B79-9678-8FF74405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242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6662"/>
                </a:solidFill>
              </a:defRPr>
            </a:pPr>
            <a:r>
              <a:rPr sz="1350">
                <a:solidFill>
                  <a:srgbClr val="686662"/>
                </a:solidFill>
              </a:rPr>
              <a:t>A Certainty Session stays with the actual obstacle.</a:t>
            </a:r>
          </a:p>
        </p:txBody>
      </p:sp>
    </p:spTree>
    <p:extLst>
      <p:ext uri="{BB962C8B-B14F-4D97-AF65-F5344CB8AC3E}">
        <p14:creationId xmlns:p14="http://schemas.microsoft.com/office/powerpoint/2010/main" val="18110628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27516-BDF6-4DAE-8899-692039F2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42BD2-B667-41E6-918C-0BB87389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FOUNDERS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84331-8CA9-40E3-80C3-9B8528D8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2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8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C772F-159D-48B4-A01C-272309BE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45B4F"/>
                </a:solidFill>
              </a:defRPr>
            </a:pPr>
            <a:r>
              <a:rPr sz="4800" b="1">
                <a:solidFill>
                  <a:srgbClr val="F45B4F"/>
                </a:solidFill>
              </a:rPr>
              <a:t>$77 / month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F8714-364D-4C18-8965-C55AFC74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1212"/>
                </a:solidFill>
              </a:defRPr>
            </a:pPr>
            <a:r>
              <a:rPr sz="2325" b="1">
                <a:solidFill>
                  <a:srgbClr val="121212"/>
                </a:solidFill>
              </a:rPr>
              <a:t>Founders invitation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F0ADE-16F3-43D8-B07C-E4AD1E97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86662"/>
                </a:solidFill>
              </a:defRPr>
            </a:pPr>
            <a:r>
              <a:rPr sz="1800">
                <a:solidFill>
                  <a:srgbClr val="686662"/>
                </a:solidFill>
              </a:rPr>
              <a:t>Open September 15-19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A90AA-F0D8-4AD4-83AD-7695A97B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47750"/>
            <a:ext cx="447675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36A2A-C0D5-4476-86F2-073A3CB2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716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847A"/>
                </a:solidFill>
              </a:defRPr>
            </a:pPr>
            <a:r>
              <a:rPr sz="1500" b="1">
                <a:solidFill>
                  <a:srgbClr val="15847A"/>
                </a:solidFill>
              </a:rPr>
              <a:t>Included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643E3-C7CD-46E3-BABD-78AA6197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24050"/>
            <a:ext cx="3619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2"/>
                </a:solidFill>
              </a:defRPr>
            </a:pPr>
            <a:r>
              <a:rPr sz="1875" b="1">
                <a:solidFill>
                  <a:srgbClr val="121212"/>
                </a:solidFill>
              </a:rPr>
              <a:t>StorySculpt</a:t>
            </a:r>
          </a:p>
          <a:p xmlns:a="http://schemas.openxmlformats.org/drawingml/2006/main">
            <a:pPr>
              <a:defRPr sz="1875" b="1">
                <a:solidFill>
                  <a:srgbClr val="121212"/>
                </a:solidFill>
              </a:defRPr>
            </a:pPr>
            <a:r>
              <a:rPr sz="1875" b="1">
                <a:solidFill>
                  <a:srgbClr val="121212"/>
                </a:solidFill>
              </a:rPr>
              <a:t>Next Step Navigator</a:t>
            </a:r>
          </a:p>
          <a:p xmlns:a="http://schemas.openxmlformats.org/drawingml/2006/main">
            <a:pPr>
              <a:defRPr sz="1875" b="1">
                <a:solidFill>
                  <a:srgbClr val="121212"/>
                </a:solidFill>
              </a:defRPr>
            </a:pPr>
            <a:r>
              <a:rPr sz="1875" b="1">
                <a:solidFill>
                  <a:srgbClr val="121212"/>
                </a:solidFill>
              </a:rPr>
              <a:t>Solution Vault</a:t>
            </a:r>
          </a:p>
          <a:p xmlns:a="http://schemas.openxmlformats.org/drawingml/2006/main">
            <a:pPr>
              <a:defRPr sz="1875" b="1">
                <a:solidFill>
                  <a:srgbClr val="121212"/>
                </a:solidFill>
              </a:defRPr>
            </a:pPr>
            <a:r>
              <a:rPr sz="1875" b="1">
                <a:solidFill>
                  <a:srgbClr val="121212"/>
                </a:solidFill>
              </a:rPr>
              <a:t>AI Boardroom</a:t>
            </a:r>
          </a:p>
          <a:p xmlns:a="http://schemas.openxmlformats.org/drawingml/2006/main">
            <a:pPr>
              <a:defRPr sz="1875" b="1">
                <a:solidFill>
                  <a:srgbClr val="121212"/>
                </a:solidFill>
              </a:defRPr>
            </a:pPr>
            <a:r>
              <a:rPr sz="1875" b="1">
                <a:solidFill>
                  <a:srgbClr val="121212"/>
                </a:solidFill>
              </a:rPr>
              <a:t>Certainty Sessions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CFCA6-7331-4075-A8DE-1067F7F1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86662"/>
                </a:solidFill>
              </a:defRPr>
            </a:pPr>
            <a:r>
              <a:rPr sz="1650">
                <a:solidFill>
                  <a:srgbClr val="686662"/>
                </a:solidFill>
              </a:rPr>
              <a:t>The founders period repeats monthly until it is permanently retired. Standard membership then becomes $127/month.</a:t>
            </a:r>
          </a:p>
        </p:txBody>
      </p:sp>
    </p:spTree>
    <p:extLst>
      <p:ext uri="{BB962C8B-B14F-4D97-AF65-F5344CB8AC3E}">
        <p14:creationId xmlns:p14="http://schemas.microsoft.com/office/powerpoint/2010/main" val="7545445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A89746-43CE-4853-9972-0B9E2D84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30372-6D5D-46A1-8C9B-84AD1439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THE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ACA56-F02F-42C5-9088-ABA97FBD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2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9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F0B07-C4B0-4791-AFB5-67E06E87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09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1212"/>
                </a:solidFill>
              </a:defRPr>
            </a:pPr>
            <a:r>
              <a:rPr sz="3600" b="1">
                <a:solidFill>
                  <a:srgbClr val="121212"/>
                </a:solidFill>
              </a:rPr>
              <a:t>Join for movement, not more information.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3067D-7708-4C5F-A687-A2BC2121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5B4F"/>
                </a:solidFill>
              </a:defRPr>
            </a:pPr>
            <a:r>
              <a:rPr sz="1350" b="1">
                <a:solidFill>
                  <a:srgbClr val="F45B4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BFD6E-8176-4C2A-8E63-338B81DE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212"/>
                </a:solidFill>
              </a:defRPr>
            </a:pPr>
            <a:r>
              <a:rPr sz="2175" b="1">
                <a:solidFill>
                  <a:srgbClr val="121212"/>
                </a:solidFill>
              </a:rPr>
              <a:t>The work is real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8A5FE-8E0A-4A6B-AD2A-6E8C13B4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6662"/>
                </a:solidFill>
              </a:defRPr>
            </a:pPr>
            <a:r>
              <a:rPr sz="1350">
                <a:solidFill>
                  <a:srgbClr val="686662"/>
                </a:solidFill>
              </a:rPr>
              <a:t>There is a current project, message, decision, or obstacle.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A1408-0CCC-404C-9E36-746441D4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BCE"/>
                </a:solidFill>
              </a:defRPr>
            </a:pPr>
            <a:r>
              <a:rPr sz="1350" b="1">
                <a:solidFill>
                  <a:srgbClr val="246BCE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FE4DE-2F6E-4C15-89E6-ABED8159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575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212"/>
                </a:solidFill>
              </a:defRPr>
            </a:pPr>
            <a:r>
              <a:rPr sz="2175" b="1">
                <a:solidFill>
                  <a:srgbClr val="121212"/>
                </a:solidFill>
              </a:rPr>
              <a:t>Context matters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1E90D-B197-412C-BB45-19C0EAEC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6662"/>
                </a:solidFill>
              </a:defRPr>
            </a:pPr>
            <a:r>
              <a:rPr sz="1350">
                <a:solidFill>
                  <a:srgbClr val="686662"/>
                </a:solidFill>
              </a:rPr>
              <a:t>Generic advice keeps missing the actual starting point.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7F0B5-BAE2-4D9C-AE5A-EB47E560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241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847A"/>
                </a:solidFill>
              </a:defRPr>
            </a:pPr>
            <a:r>
              <a:rPr sz="1350" b="1">
                <a:solidFill>
                  <a:srgbClr val="15847A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05DCB-1150-477D-9DD8-D9BDB088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1212"/>
                </a:solidFill>
              </a:defRPr>
            </a:pPr>
            <a:r>
              <a:rPr sz="2175" b="1">
                <a:solidFill>
                  <a:srgbClr val="121212"/>
                </a:solidFill>
              </a:rPr>
              <a:t>Finishing matters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CDB2D-6AFB-44CC-B9FF-3D472993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766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6662"/>
                </a:solidFill>
              </a:defRPr>
            </a:pPr>
            <a:r>
              <a:rPr sz="1350">
                <a:solidFill>
                  <a:srgbClr val="686662"/>
                </a:solidFill>
              </a:rPr>
              <a:t>The result must exist outside the conversation.</a:t>
            </a:r>
          </a:p>
        </p:txBody>
      </p:sp>
    </p:spTree>
    <p:extLst>
      <p:ext uri="{BB962C8B-B14F-4D97-AF65-F5344CB8AC3E}">
        <p14:creationId xmlns:p14="http://schemas.microsoft.com/office/powerpoint/2010/main" val="19870705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A94BB-C871-4511-AA73-87D73173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8F8F8-F400-453A-968B-7F7C58F8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Q&amp;A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307EB-FCA4-4380-ACA2-B796AB0C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2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662"/>
                </a:solidFill>
              </a:defRPr>
            </a:pPr>
            <a:r>
              <a:rPr sz="975" b="1">
                <a:solidFill>
                  <a:srgbClr val="686662"/>
                </a:solidFill>
              </a:rPr>
              <a:t>10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036BA-FC37-48EE-9FD0-8C9CAC4F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21212"/>
                </a:solidFill>
              </a:defRPr>
            </a:pPr>
            <a:r>
              <a:rPr sz="3825" b="1">
                <a:solidFill>
                  <a:srgbClr val="121212"/>
                </a:solidFill>
              </a:rPr>
              <a:t>What does the next chapter need?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2F57A-76C1-422D-A18E-07DB121B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914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686662"/>
                </a:solidFill>
              </a:defRPr>
            </a:pPr>
            <a:r>
              <a:rPr sz="2025">
                <a:solidFill>
                  <a:srgbClr val="686662"/>
                </a:solidFill>
              </a:rPr>
              <a:t>Ask about the work, the membership, or the obstacle that appeared when the seven-video story ended.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AC063-5C5E-4D2E-9F73-5F63512D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55245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8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CD05B-E584-497A-A9EF-E0764110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Founders closes September 19.</a:t>
            </a:r>
          </a:p>
        </p:txBody>
      </p:sp>
    </p:spTree>
    <p:extLst>
      <p:ext uri="{BB962C8B-B14F-4D97-AF65-F5344CB8AC3E}">
        <p14:creationId xmlns:p14="http://schemas.microsoft.com/office/powerpoint/2010/main" val="11535322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2026-08-06T23:14:51.3140000Z</dcterms:created>
  <dcterms:modified xsi:type="dcterms:W3CDTF">2026-08-06T23:14:51.3140000Z</dcterms:modified>
</coreProperties>
</file>